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7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3" r:id="rId10"/>
    <p:sldId id="264" r:id="rId11"/>
    <p:sldId id="265" r:id="rId12"/>
    <p:sldId id="272" r:id="rId13"/>
    <p:sldId id="266" r:id="rId14"/>
    <p:sldId id="267" r:id="rId15"/>
    <p:sldId id="268" r:id="rId16"/>
    <p:sldId id="271" r:id="rId17"/>
    <p:sldId id="269" r:id="rId18"/>
    <p:sldId id="270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1F-4CF7-975C-FEFD665A810D}"/>
              </c:ext>
            </c:extLst>
          </c:dPt>
          <c:dPt>
            <c:idx val="1"/>
            <c:invertIfNegative val="0"/>
            <c:bubble3D val="0"/>
            <c:spPr>
              <a:solidFill>
                <a:srgbClr val="F5B4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1F-4CF7-975C-FEFD665A810D}"/>
              </c:ext>
            </c:extLst>
          </c:dPt>
          <c:dPt>
            <c:idx val="2"/>
            <c:invertIfNegative val="0"/>
            <c:bubble3D val="0"/>
            <c:spPr>
              <a:solidFill>
                <a:srgbClr val="F5B4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1F-4CF7-975C-FEFD665A810D}"/>
              </c:ext>
            </c:extLst>
          </c:dPt>
          <c:dPt>
            <c:idx val="3"/>
            <c:invertIfNegative val="0"/>
            <c:bubble3D val="0"/>
            <c:spPr>
              <a:solidFill>
                <a:srgbClr val="9C7A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81F-4CF7-975C-FEFD665A810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7A3E1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Completed</c:v>
                </c:pt>
                <c:pt idx="1">
                  <c:v>Active</c:v>
                </c:pt>
                <c:pt idx="2">
                  <c:v>Dropped</c:v>
                </c:pt>
                <c:pt idx="3">
                  <c:v>Not enrolled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17.3</c:v>
                </c:pt>
                <c:pt idx="1">
                  <c:v>11.2</c:v>
                </c:pt>
                <c:pt idx="2">
                  <c:v>8.1999999999999993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81F-4CF7-975C-FEFD665A81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5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532-482A-82B3-3CCFE50779B9}"/>
              </c:ext>
            </c:extLst>
          </c:dPt>
          <c:dPt>
            <c:idx val="1"/>
            <c:invertIfNegative val="0"/>
            <c:bubble3D val="0"/>
            <c:spPr>
              <a:solidFill>
                <a:srgbClr val="F5B4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32-482A-82B3-3CCFE50779B9}"/>
              </c:ext>
            </c:extLst>
          </c:dPt>
          <c:dPt>
            <c:idx val="2"/>
            <c:invertIfNegative val="0"/>
            <c:bubble3D val="0"/>
            <c:spPr>
              <a:solidFill>
                <a:srgbClr val="F5B4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32-482A-82B3-3CCFE50779B9}"/>
              </c:ext>
            </c:extLst>
          </c:dPt>
          <c:dPt>
            <c:idx val="3"/>
            <c:invertIfNegative val="0"/>
            <c:bubble3D val="0"/>
            <c:spPr>
              <a:solidFill>
                <a:srgbClr val="9C7A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532-482A-82B3-3CCFE50779B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7A3E1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Completed</c:v>
                </c:pt>
                <c:pt idx="1">
                  <c:v>Active</c:v>
                </c:pt>
                <c:pt idx="2">
                  <c:v>Dropped</c:v>
                </c:pt>
                <c:pt idx="3">
                  <c:v>Not enrolled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3.22</c:v>
                </c:pt>
                <c:pt idx="1">
                  <c:v>3.11</c:v>
                </c:pt>
                <c:pt idx="2">
                  <c:v>3.02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32-482A-82B3-3CCFE50779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5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Enrollments</c:v>
                </c:pt>
              </c:strCache>
            </c:strRef>
          </c:tx>
          <c:spPr>
            <a:ln w="38100" cap="flat">
              <a:solidFill>
                <a:srgbClr val="E887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71E"/>
              </a:solidFill>
              <a:ln w="9525" cap="flat">
                <a:solidFill>
                  <a:srgbClr val="E8871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Q1 23</c:v>
                </c:pt>
                <c:pt idx="1">
                  <c:v>Q2 23</c:v>
                </c:pt>
                <c:pt idx="2">
                  <c:v>Q3 23</c:v>
                </c:pt>
                <c:pt idx="3">
                  <c:v>Q4 23</c:v>
                </c:pt>
                <c:pt idx="4">
                  <c:v>Q1 24</c:v>
                </c:pt>
                <c:pt idx="5">
                  <c:v>Q2 24</c:v>
                </c:pt>
                <c:pt idx="6">
                  <c:v>Q3 24</c:v>
                </c:pt>
                <c:pt idx="7">
                  <c:v>Q4 24</c:v>
                </c:pt>
                <c:pt idx="8">
                  <c:v>Q1 25</c:v>
                </c:pt>
                <c:pt idx="9">
                  <c:v>Q2 25</c:v>
                </c:pt>
                <c:pt idx="10">
                  <c:v>Q3 25</c:v>
                </c:pt>
                <c:pt idx="11">
                  <c:v>Q4 25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80</c:v>
                </c:pt>
                <c:pt idx="1">
                  <c:v>262</c:v>
                </c:pt>
                <c:pt idx="2">
                  <c:v>410</c:v>
                </c:pt>
                <c:pt idx="3">
                  <c:v>580</c:v>
                </c:pt>
                <c:pt idx="4">
                  <c:v>756</c:v>
                </c:pt>
                <c:pt idx="5">
                  <c:v>900</c:v>
                </c:pt>
                <c:pt idx="6">
                  <c:v>1014</c:v>
                </c:pt>
                <c:pt idx="7">
                  <c:v>1204</c:v>
                </c:pt>
                <c:pt idx="8">
                  <c:v>1286</c:v>
                </c:pt>
                <c:pt idx="9">
                  <c:v>1384</c:v>
                </c:pt>
                <c:pt idx="10">
                  <c:v>1414</c:v>
                </c:pt>
                <c:pt idx="11">
                  <c:v>1512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442-42ED-A874-F13C00CB44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900000"/>
          <a:lstStyle/>
          <a:p>
            <a:pPr>
              <a:defRPr sz="900" b="0" i="0" u="none" strike="noStrike">
                <a:solidFill>
                  <a:srgbClr val="4A35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DB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7A4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5B4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806-4834-AFFC-65AFB886329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806-4834-AFFC-65AFB886329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806-4834-AFFC-65AFB8863290}"/>
              </c:ext>
            </c:extLst>
          </c:dPt>
          <c:dPt>
            <c:idx val="3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806-4834-AFFC-65AFB886329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7A3E1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Adult</c:v>
                </c:pt>
                <c:pt idx="2">
                  <c:v>Middle age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2933</c:v>
                </c:pt>
                <c:pt idx="1">
                  <c:v>3998</c:v>
                </c:pt>
                <c:pt idx="2">
                  <c:v>5229</c:v>
                </c:pt>
                <c:pt idx="3">
                  <c:v>8476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806-4834-AFFC-65AFB88632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5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5B4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91-4576-90B0-C9F42366AFD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091-4576-90B0-C9F42366AFDB}"/>
              </c:ext>
            </c:extLst>
          </c:dPt>
          <c:dPt>
            <c:idx val="2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91-4576-90B0-C9F42366AFD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7A3E1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Moderate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4124</c:v>
                </c:pt>
                <c:pt idx="1">
                  <c:v>4853</c:v>
                </c:pt>
                <c:pt idx="2">
                  <c:v>5951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091-4576-90B0-C9F42366AF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5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F5B4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8A-4384-AC06-1C75DE74F15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B8A-4384-AC06-1C75DE74F15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B8A-4384-AC06-1C75DE74F15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B8A-4384-AC06-1C75DE74F159}"/>
              </c:ext>
            </c:extLst>
          </c:dPt>
          <c:dPt>
            <c:idx val="4"/>
            <c:invertIfNegative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8A-4384-AC06-1C75DE74F15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7A3E1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3203</c:v>
                </c:pt>
                <c:pt idx="1">
                  <c:v>6177</c:v>
                </c:pt>
                <c:pt idx="2">
                  <c:v>10040</c:v>
                </c:pt>
                <c:pt idx="3">
                  <c:v>12550</c:v>
                </c:pt>
                <c:pt idx="4">
                  <c:v>15890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B8A-4384-AC06-1C75DE74F1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35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871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BE1-4F44-BC63-251EEDA9EA15}"/>
              </c:ext>
            </c:extLst>
          </c:dPt>
          <c:dPt>
            <c:idx val="1"/>
            <c:bubble3D val="0"/>
            <c:spPr>
              <a:solidFill>
                <a:srgbClr val="F5B4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BE1-4F44-BC63-251EEDA9EA15}"/>
              </c:ext>
            </c:extLst>
          </c:dPt>
          <c:dPt>
            <c:idx val="2"/>
            <c:bubble3D val="0"/>
            <c:spPr>
              <a:solidFill>
                <a:srgbClr val="7A3E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BE1-4F44-BC63-251EEDA9EA1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BE1-4F44-BC63-251EEDA9EA1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BE1-4F44-BC63-251EEDA9EA1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BE1-4F44-BC63-251EEDA9EA1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</c:v>
                </c:pt>
                <c:pt idx="1">
                  <c:v>123</c:v>
                </c:pt>
                <c:pt idx="2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BE1-4F44-BC63-251EEDA9EA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352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392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model results supplied by the team. The earlier 4-class disease-type model (about 0.98 accuracy) had Develops_Chronic_Disease_12M among its inputs, so its scores are not shown. Cross-validation (CV_Recall) is not populated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0322-0F27-4092-E38D-1BF57125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83CE8-D1F8-05FC-2F0D-04B44B7AB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69F3C1-8258-805E-3D15-6EEFA75E9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Binary model results supplied by the team. The earlier 4-class disease-type model (about 0.98 accuracy) had Develops_Chronic_Disease_12M among its inputs, so its scores are not shown. Cross-validation (CV_Recall) is not populated in the notebook.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5F4FE-63D5-AAF2-8F18-CB6D869B4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914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E481-AD50-12AD-982F-3AE9E6DB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B9C91-00A6-AD57-3B43-6122A957D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A84FA-F0D9-C760-7407-77BF2EC64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1F504-4A64-2A9C-2FC6-AD754F740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chart" Target="../charts/char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E3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3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011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SUBMISSION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23774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HEALTH INTELLIGENCE &amp; PREVENTIVE CARE OPTIMIZATION</a:t>
            </a:r>
            <a:endParaRPr lang="en-US" sz="38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chronic disease early, so we can intervene before it becomes expensive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Training Program  |  Capstone Project 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22960" y="5029199"/>
            <a:ext cx="8229600" cy="1104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Chaudhari : Data Science Lead,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Janhavi Bagret : Analytics and Visualization Lead ,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Sweta Raj : Data Engineering Lead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date:  </a:t>
            </a: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Oct 2026</a:t>
            </a:r>
          </a:p>
          <a:p>
            <a:r>
              <a:rPr lang="en-US" sz="14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 </a:t>
            </a: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RCB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2011680"/>
            <a:ext cx="6766560" cy="2514600"/>
          </a:xfrm>
          <a:prstGeom prst="roundRect">
            <a:avLst>
              <a:gd name="adj" fmla="val 2182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914400" y="2148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914400" y="246888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disease is usually found after members have already moved into higher-risk, higher-cost states. Reactive care means more hospital stays, worse outcomes, late interventions and wellness programs aimed at the wrong people.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914400" y="36118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answer four questions: Population Health (who is at risk?), Clinical (which indicators matter?), Financial (where does cost concentrate?) and Member Experience (what are members telling us?).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680960" y="2011680"/>
            <a:ext cx="3886200" cy="1097280"/>
          </a:xfrm>
          <a:prstGeom prst="roundRect">
            <a:avLst>
              <a:gd name="adj" fmla="val 50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7818120" y="21031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7818120" y="2615184"/>
            <a:ext cx="36118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9,982 members (1,036) develop a chronic condition within 12 months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680960" y="3246120"/>
            <a:ext cx="3886200" cy="1280160"/>
          </a:xfrm>
          <a:prstGeom prst="roundRect">
            <a:avLst>
              <a:gd name="adj" fmla="val 4286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7818120" y="33375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7818120" y="3950208"/>
            <a:ext cx="3611880" cy="53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members (547) drive about 42% of total cost (from segment averages)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40080" y="4800600"/>
            <a:ext cx="10927080" cy="1600200"/>
          </a:xfrm>
          <a:prstGeom prst="roundRect">
            <a:avLst>
              <a:gd name="adj" fmla="val 3429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914400" y="4937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LEADERSHIP QUESTION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interventions should Kaiser Permanente implement today to reduce future chronic disease burden while improving member wellness and controlling healthcare costs?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ARCHITECTURE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INTEGRATED DATASETS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228600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77240" y="2487168"/>
            <a:ext cx="310896" cy="310896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777240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Master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23444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region, plan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377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10,150 rows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090672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77240" y="3291840"/>
            <a:ext cx="310896" cy="310896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77724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234440" y="3182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234440" y="3456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Exercise, smoking, diet, screening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3566160" y="318211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15,285 rows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" y="3895344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77240" y="4096512"/>
            <a:ext cx="310896" cy="310896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77724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234440" y="39867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Screenings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1234440" y="4261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glucose, HbA1c, BP, cholesterol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3566160" y="39867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15,285 rows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40080" y="4700016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777240" y="4901184"/>
            <a:ext cx="310896" cy="310896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777240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234440" y="47914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Utilization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1234440" y="5065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Visits, costs, medications</a:t>
            </a:r>
            <a:endParaRPr lang="en-US" sz="1150" dirty="0"/>
          </a:p>
        </p:txBody>
      </p:sp>
      <p:sp>
        <p:nvSpPr>
          <p:cNvPr id="33" name="Text 29"/>
          <p:cNvSpPr txBox="1"/>
          <p:nvPr/>
        </p:nvSpPr>
        <p:spPr>
          <a:xfrm>
            <a:off x="3566160" y="47914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15,285 rows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40080" y="5504688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1"/>
          <p:cNvSpPr/>
          <p:nvPr/>
        </p:nvSpPr>
        <p:spPr>
          <a:xfrm>
            <a:off x="777240" y="5705856"/>
            <a:ext cx="310896" cy="310896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 txBox="1"/>
          <p:nvPr/>
        </p:nvSpPr>
        <p:spPr>
          <a:xfrm>
            <a:off x="77724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1234440" y="5596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Feedback</a:t>
            </a:r>
            <a:endParaRPr 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1234440" y="5870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comments, ratings</a:t>
            </a:r>
            <a:endParaRPr lang="en-US" sz="1150" dirty="0"/>
          </a:p>
        </p:txBody>
      </p:sp>
      <p:sp>
        <p:nvSpPr>
          <p:cNvPr id="39" name="Text 35"/>
          <p:cNvSpPr txBox="1"/>
          <p:nvPr/>
        </p:nvSpPr>
        <p:spPr>
          <a:xfrm>
            <a:off x="3566160" y="5596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15,285 rows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5212080" y="1965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DECISIONS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212080" y="2286000"/>
            <a:ext cx="3108960" cy="1783080"/>
          </a:xfrm>
          <a:prstGeom prst="roundRect">
            <a:avLst>
              <a:gd name="adj" fmla="val 307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539496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539496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800" dirty="0"/>
          </a:p>
        </p:txBody>
      </p:sp>
      <p:sp>
        <p:nvSpPr>
          <p:cNvPr id="44" name="Text 40"/>
          <p:cNvSpPr txBox="1"/>
          <p:nvPr/>
        </p:nvSpPr>
        <p:spPr>
          <a:xfrm>
            <a:off x="5394960" y="3154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 duplicates removed; IDs, 38 region spellings and sentinel values standardised</a:t>
            </a:r>
            <a:endParaRPr lang="en-US" sz="1250" dirty="0"/>
          </a:p>
        </p:txBody>
      </p:sp>
      <p:sp>
        <p:nvSpPr>
          <p:cNvPr id="45" name="Shape 41"/>
          <p:cNvSpPr/>
          <p:nvPr/>
        </p:nvSpPr>
        <p:spPr>
          <a:xfrm>
            <a:off x="8458200" y="2286000"/>
            <a:ext cx="3108960" cy="1783080"/>
          </a:xfrm>
          <a:prstGeom prst="roundRect">
            <a:avLst>
              <a:gd name="adj" fmla="val 307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 txBox="1"/>
          <p:nvPr/>
        </p:nvSpPr>
        <p:spPr>
          <a:xfrm>
            <a:off x="8641080" y="2423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864108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800" dirty="0"/>
          </a:p>
        </p:txBody>
      </p:sp>
      <p:sp>
        <p:nvSpPr>
          <p:cNvPr id="48" name="Text 44"/>
          <p:cNvSpPr txBox="1"/>
          <p:nvPr/>
        </p:nvSpPr>
        <p:spPr>
          <a:xfrm>
            <a:off x="8641080" y="3154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on Member_ID into one Gold dataset: 34,553 rows x 64 columns</a:t>
            </a:r>
            <a:endParaRPr lang="en-US" sz="1250" dirty="0"/>
          </a:p>
        </p:txBody>
      </p:sp>
      <p:sp>
        <p:nvSpPr>
          <p:cNvPr id="49" name="Shape 45"/>
          <p:cNvSpPr/>
          <p:nvPr/>
        </p:nvSpPr>
        <p:spPr>
          <a:xfrm>
            <a:off x="5212080" y="4206240"/>
            <a:ext cx="3108960" cy="1783080"/>
          </a:xfrm>
          <a:prstGeom prst="roundRect">
            <a:avLst>
              <a:gd name="adj" fmla="val 307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 txBox="1"/>
          <p:nvPr/>
        </p:nvSpPr>
        <p:spPr>
          <a:xfrm>
            <a:off x="539496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51" name="Text 47"/>
          <p:cNvSpPr txBox="1"/>
          <p:nvPr/>
        </p:nvSpPr>
        <p:spPr>
          <a:xfrm>
            <a:off x="539496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Member-level</a:t>
            </a:r>
            <a:endParaRPr lang="en-US" sz="1800" dirty="0"/>
          </a:p>
        </p:txBody>
      </p:sp>
      <p:sp>
        <p:nvSpPr>
          <p:cNvPr id="52" name="Text 48"/>
          <p:cNvSpPr txBox="1"/>
          <p:nvPr/>
        </p:nvSpPr>
        <p:spPr>
          <a:xfrm>
            <a:off x="5394960" y="5074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 per member: 9,982 unique members</a:t>
            </a:r>
            <a:endParaRPr lang="en-US" sz="1250" dirty="0"/>
          </a:p>
        </p:txBody>
      </p:sp>
      <p:sp>
        <p:nvSpPr>
          <p:cNvPr id="53" name="Shape 49"/>
          <p:cNvSpPr/>
          <p:nvPr/>
        </p:nvSpPr>
        <p:spPr>
          <a:xfrm>
            <a:off x="8458200" y="4206240"/>
            <a:ext cx="3108960" cy="1783080"/>
          </a:xfrm>
          <a:prstGeom prst="roundRect">
            <a:avLst>
              <a:gd name="adj" fmla="val 3077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 txBox="1"/>
          <p:nvPr/>
        </p:nvSpPr>
        <p:spPr>
          <a:xfrm>
            <a:off x="864108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55" name="Text 51"/>
          <p:cNvSpPr txBox="1"/>
          <p:nvPr/>
        </p:nvSpPr>
        <p:spPr>
          <a:xfrm>
            <a:off x="864108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model</a:t>
            </a:r>
            <a:endParaRPr lang="en-US" sz="1800" dirty="0"/>
          </a:p>
        </p:txBody>
      </p:sp>
      <p:sp>
        <p:nvSpPr>
          <p:cNvPr id="56" name="Text 52"/>
          <p:cNvSpPr txBox="1"/>
          <p:nvPr/>
        </p:nvSpPr>
        <p:spPr>
          <a:xfrm>
            <a:off x="8641080" y="50749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statistics, EDA, ML, clustering, NLP, RAG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SQL: WELLNESS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9659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777240" y="19659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810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920240" y="1965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removed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410712" y="19659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3547872" y="19659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to 9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90872" y="1965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spellings unified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81344" y="19659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318504" y="19659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12,510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461504" y="1965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951976" y="196596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9089136" y="19659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0232136" y="19659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records per table fixed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0080" y="278892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777240" y="2880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SESSIONS ATTENDED, BY PROGRAM STATUS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343400" y="278892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4480560" y="2880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SCREENINGS COMPLETED, BY STATUS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046720" y="2788920"/>
            <a:ext cx="3520440" cy="2514600"/>
          </a:xfrm>
          <a:prstGeom prst="roundRect">
            <a:avLst>
              <a:gd name="adj" fmla="val 2182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8183880" y="288036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PROGRAM ENROLLMENTS</a:t>
            </a:r>
            <a:endParaRPr lang="en-US" sz="11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731520" y="3154680"/>
          <a:ext cx="33375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8" name="Chart 1"/>
          <p:cNvGraphicFramePr/>
          <p:nvPr/>
        </p:nvGraphicFramePr>
        <p:xfrm>
          <a:off x="4434840" y="3154680"/>
          <a:ext cx="33375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9" name="Chart 2"/>
          <p:cNvGraphicFramePr/>
          <p:nvPr/>
        </p:nvGraphicFramePr>
        <p:xfrm>
          <a:off x="8138160" y="3154680"/>
          <a:ext cx="33375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0" name="Shape 23"/>
          <p:cNvSpPr/>
          <p:nvPr/>
        </p:nvSpPr>
        <p:spPr>
          <a:xfrm>
            <a:off x="640080" y="544068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4"/>
          <p:cNvSpPr txBox="1"/>
          <p:nvPr/>
        </p:nvSpPr>
        <p:spPr>
          <a:xfrm>
            <a:off x="822960" y="5486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members screen more: completers average 3.2 screenings against 2.0 for non-enrolled (+61%).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4343400" y="544068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 txBox="1"/>
          <p:nvPr/>
        </p:nvSpPr>
        <p:spPr>
          <a:xfrm>
            <a:off x="4526280" y="5486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Dropouts are the opportunity: 4,786 members left a program after only 8 sessions on average.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046720" y="5440680"/>
            <a:ext cx="3520440" cy="960120"/>
          </a:xfrm>
          <a:prstGeom prst="roundRect">
            <a:avLst>
              <a:gd name="adj" fmla="val 5714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 txBox="1"/>
          <p:nvPr/>
        </p:nvSpPr>
        <p:spPr>
          <a:xfrm>
            <a:off x="8229600" y="5486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grew about 19x, from 80 in Q1 2023 to 1,512 in Q4 2025. Screening reach is 100% in all 9 regions.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FINDINGS: RISK, COST &amp; UTILIZATION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805940" y="1993392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943100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BY AGE CATEGORY ($)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6572" y="1993392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4713732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BY RISK GROUP ($)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347204" y="1993392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7484364" y="208483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BY CHRONIC CONDITIONS ($)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4279751596"/>
              </p:ext>
            </p:extLst>
          </p:nvPr>
        </p:nvGraphicFramePr>
        <p:xfrm>
          <a:off x="1851660" y="2450592"/>
          <a:ext cx="2514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8" name="Chart 1"/>
          <p:cNvGraphicFramePr/>
          <p:nvPr>
            <p:extLst>
              <p:ext uri="{D42A27DB-BD31-4B8C-83A1-F6EECF244321}">
                <p14:modId xmlns:p14="http://schemas.microsoft.com/office/powerpoint/2010/main" val="3779233905"/>
              </p:ext>
            </p:extLst>
          </p:nvPr>
        </p:nvGraphicFramePr>
        <p:xfrm>
          <a:off x="4622292" y="2450592"/>
          <a:ext cx="2514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2"/>
          <p:cNvGraphicFramePr/>
          <p:nvPr>
            <p:extLst>
              <p:ext uri="{D42A27DB-BD31-4B8C-83A1-F6EECF244321}">
                <p14:modId xmlns:p14="http://schemas.microsoft.com/office/powerpoint/2010/main" val="2044021634"/>
              </p:ext>
            </p:extLst>
          </p:nvPr>
        </p:nvGraphicFramePr>
        <p:xfrm>
          <a:off x="7392924" y="2450592"/>
          <a:ext cx="25146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1" name="Shape 13"/>
          <p:cNvSpPr/>
          <p:nvPr/>
        </p:nvSpPr>
        <p:spPr>
          <a:xfrm>
            <a:off x="640080" y="507492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4"/>
          <p:cNvSpPr txBox="1"/>
          <p:nvPr/>
        </p:nvSpPr>
        <p:spPr>
          <a:xfrm>
            <a:off x="82296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MEMBERS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822960" y="5440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costs $144K to $333K, about $3.8M combined: prime case-management candidates.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4343400" y="507492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 txBox="1"/>
          <p:nvPr/>
        </p:nvSpPr>
        <p:spPr>
          <a:xfrm>
            <a:off x="452628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BURDEN DRIVES COST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4526280" y="5440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with 4 chronic conditions cost about 5x those with none.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8046720" y="5074920"/>
            <a:ext cx="3566160" cy="1325880"/>
          </a:xfrm>
          <a:prstGeom prst="roundRect">
            <a:avLst>
              <a:gd name="adj" fmla="val 4138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0"/>
          <p:cNvSpPr txBox="1"/>
          <p:nvPr/>
        </p:nvSpPr>
        <p:spPr>
          <a:xfrm>
            <a:off x="82296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RISK BOTH MATTER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8229600" y="5440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cost 2.9x young adults; high clinical risk costs 44% more than low risk.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INSIGHTS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55409" y="2011680"/>
            <a:ext cx="3063240" cy="2103120"/>
          </a:xfrm>
          <a:prstGeom prst="roundRect">
            <a:avLst>
              <a:gd name="adj" fmla="val 2609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492569" y="2121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92569" y="24688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28.8 · Glucose 96 · Cholesterol 187 · Visits 5.3 a year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92569" y="33375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average $5.7K, pulled up by a few very large claims.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566160" y="2011680"/>
            <a:ext cx="3063240" cy="2103120"/>
          </a:xfrm>
          <a:prstGeom prst="roundRect">
            <a:avLst>
              <a:gd name="adj" fmla="val 2609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703320" y="2121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&amp; outliers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703320" y="24688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and glucose have a long high tail; costs are extremely skewed.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703320" y="33375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readings and high costs sit in a small, targetable group.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55409" y="4251960"/>
            <a:ext cx="3063240" cy="2103120"/>
          </a:xfrm>
          <a:prstGeom prst="roundRect">
            <a:avLst>
              <a:gd name="adj" fmla="val 2609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92569" y="43616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92569" y="470916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correlations among BMI, glucose, HbA1c, exercise, costs and visits are all below 0.02.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492569" y="55778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metric explains risk, so we model them together.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66160" y="4251960"/>
            <a:ext cx="3063240" cy="2103120"/>
          </a:xfrm>
          <a:prstGeom prst="roundRect">
            <a:avLst>
              <a:gd name="adj" fmla="val 2609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3703320" y="436168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hypotheses tested at alpha = 0.05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3703320" y="47091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supported, 2 not. Family history of diabetes (p&lt;0.001) and BMI (p=0.0002) clearly separate members who develop disease.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6766560" y="2011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RESULTS</a:t>
            </a:r>
            <a:endParaRPr lang="en-US" sz="11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286000"/>
          <a:ext cx="4800600" cy="332841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BMI higher in members who develop disease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history raises disease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enrollment changes visits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but enrolled visit more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 frequency vs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Significant, tiny effect (r = -0.01)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Screening participation lowers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 higher in disease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" name="Text 21"/>
          <p:cNvSpPr txBox="1"/>
          <p:nvPr/>
        </p:nvSpPr>
        <p:spPr>
          <a:xfrm>
            <a:off x="6766560" y="5806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lifestyle and family history matter; screening alone has not yet shown a cost effect.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/home/claude/assets/cell090_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1520" y="2039112"/>
            <a:ext cx="3337560" cy="1463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49808" y="3538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members span 18-90, with a heavy 55-70 core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297680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/home/claude/assets/cell092_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89120" y="2039112"/>
            <a:ext cx="3337560" cy="1463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407408" y="3538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BMI: centred near 28; a large share is overweight or obese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7955280" y="196596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/home/claude/assets/cell094_0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46720" y="2039112"/>
            <a:ext cx="3337560" cy="1463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65008" y="35387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Glucose: most are normal, with a prediabetic and diabetic tail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40080" y="406908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5" descr="/home/claude/assets/cell098_0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31520" y="4142232"/>
            <a:ext cx="3337560" cy="146304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49808" y="5641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vs glucose: glucose climbs as BMI rises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297680" y="406908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6" descr="/home/claude/assets/cell060_0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389120" y="4142232"/>
            <a:ext cx="3337560" cy="146304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407408" y="5641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matrix: no single metric dominates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7955280" y="406908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7" descr="/home/claude/assets/cell105_0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46720" y="4142232"/>
            <a:ext cx="3337560" cy="146304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8065008" y="5641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outliers: the high-BMI tail is the early-warning group</a:t>
            </a:r>
            <a:endParaRPr lang="en-US" sz="1100" dirty="0"/>
          </a:p>
        </p:txBody>
      </p:sp>
      <p:sp>
        <p:nvSpPr>
          <p:cNvPr id="27" name="Text 17"/>
          <p:cNvSpPr txBox="1"/>
          <p:nvPr/>
        </p:nvSpPr>
        <p:spPr>
          <a:xfrm>
            <a:off x="640080" y="621792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  </a:t>
            </a: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risk builds gradually across weight, glucose and age rather than from one trigger. Costs are the sharpest skew: the median member costs about $2.5K, while the top claims reach $2.9M.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>
            <a:spLocks/>
          </p:cNvSpPr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capstone_template/et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"/>
            <a:ext cx="1554480" cy="186423"/>
          </a:xfrm>
          <a:prstGeom prst="rect">
            <a:avLst/>
          </a:prstGeom>
        </p:spPr>
      </p:pic>
      <p:pic>
        <p:nvPicPr>
          <p:cNvPr id="5" name="Image 1" descr="/home/claude/capstone_template/wingspa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818" y="349243"/>
            <a:ext cx="432054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916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916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9" name="Shape 9"/>
          <p:cNvSpPr/>
          <p:nvPr/>
        </p:nvSpPr>
        <p:spPr>
          <a:xfrm>
            <a:off x="7502278" y="1880341"/>
            <a:ext cx="4505692" cy="2872813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7920832" y="4250746"/>
            <a:ext cx="3361944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9C7A4E"/>
                </a:solidFill>
                <a:latin typeface="Calibri" pitchFamily="34" charset="0"/>
              </a:rPr>
              <a:t>Age, BMI, cost &amp; glucose distributions</a:t>
            </a:r>
          </a:p>
        </p:txBody>
      </p:sp>
      <p:sp>
        <p:nvSpPr>
          <p:cNvPr id="12" name="Shape 12"/>
          <p:cNvSpPr/>
          <p:nvPr/>
        </p:nvSpPr>
        <p:spPr>
          <a:xfrm>
            <a:off x="3866014" y="1888800"/>
            <a:ext cx="3544824" cy="204312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3"/>
          <p:cNvSpPr txBox="1"/>
          <p:nvPr/>
        </p:nvSpPr>
        <p:spPr>
          <a:xfrm>
            <a:off x="4322064" y="2524560"/>
            <a:ext cx="354482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i="1" dirty="0">
                <a:solidFill>
                  <a:srgbClr val="A38A6D"/>
                </a:solidFill>
                <a:latin typeface="Calibri" pitchFamily="34" charset="0"/>
              </a:rPr>
              <a:t>Paste your chart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100" i="1" dirty="0">
                <a:solidFill>
                  <a:srgbClr val="A38A6D"/>
                </a:solidFill>
                <a:latin typeface="Calibri" pitchFamily="34" charset="0"/>
              </a:rPr>
              <a:t>screenshot here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3957454" y="3533072"/>
            <a:ext cx="3361944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9C7A4E"/>
                </a:solidFill>
                <a:latin typeface="Calibri" pitchFamily="34" charset="0"/>
              </a:rPr>
              <a:t>Exercise Frequency vs Cost</a:t>
            </a:r>
          </a:p>
        </p:txBody>
      </p:sp>
      <p:sp>
        <p:nvSpPr>
          <p:cNvPr id="15" name="Shape 15"/>
          <p:cNvSpPr/>
          <p:nvPr/>
        </p:nvSpPr>
        <p:spPr>
          <a:xfrm>
            <a:off x="184030" y="1901372"/>
            <a:ext cx="3544824" cy="204312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207321" y="3533072"/>
            <a:ext cx="3361944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9C7A4E"/>
                </a:solidFill>
                <a:latin typeface="Calibri" pitchFamily="34" charset="0"/>
              </a:rPr>
              <a:t>BMI vs Glucose</a:t>
            </a:r>
          </a:p>
        </p:txBody>
      </p:sp>
      <p:sp>
        <p:nvSpPr>
          <p:cNvPr id="18" name="Shape 18"/>
          <p:cNvSpPr/>
          <p:nvPr/>
        </p:nvSpPr>
        <p:spPr>
          <a:xfrm>
            <a:off x="184030" y="4069080"/>
            <a:ext cx="3544824" cy="2120684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184030" y="4399080"/>
            <a:ext cx="354482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i="1" dirty="0">
                <a:solidFill>
                  <a:srgbClr val="A38A6D"/>
                </a:solidFill>
                <a:latin typeface="Calibri" pitchFamily="34" charset="0"/>
              </a:rPr>
              <a:t>Paste your chart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100" i="1" dirty="0">
                <a:solidFill>
                  <a:srgbClr val="A38A6D"/>
                </a:solidFill>
                <a:latin typeface="Calibri" pitchFamily="34" charset="0"/>
              </a:rPr>
              <a:t>screenshot here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75470" y="5735566"/>
            <a:ext cx="3361944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9C7A4E"/>
                </a:solidFill>
                <a:latin typeface="Calibri" pitchFamily="34" charset="0"/>
              </a:rPr>
              <a:t>Smoking &amp; Screening vs Cost</a:t>
            </a:r>
          </a:p>
        </p:txBody>
      </p:sp>
      <p:sp>
        <p:nvSpPr>
          <p:cNvPr id="21" name="Shape 21"/>
          <p:cNvSpPr/>
          <p:nvPr/>
        </p:nvSpPr>
        <p:spPr>
          <a:xfrm>
            <a:off x="3866014" y="4069080"/>
            <a:ext cx="3544824" cy="2120684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 txBox="1"/>
          <p:nvPr/>
        </p:nvSpPr>
        <p:spPr>
          <a:xfrm>
            <a:off x="4322064" y="4399080"/>
            <a:ext cx="354482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100" i="1" dirty="0">
                <a:solidFill>
                  <a:srgbClr val="A38A6D"/>
                </a:solidFill>
                <a:latin typeface="Calibri" pitchFamily="34" charset="0"/>
              </a:rPr>
              <a:t>Paste your chart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en-US" sz="1100" i="1" dirty="0">
                <a:solidFill>
                  <a:srgbClr val="A38A6D"/>
                </a:solidFill>
                <a:latin typeface="Calibri" pitchFamily="34" charset="0"/>
              </a:rPr>
              <a:t>screenshot here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941202" y="5750134"/>
            <a:ext cx="3361944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200" b="1" dirty="0">
                <a:solidFill>
                  <a:srgbClr val="9C7A4E"/>
                </a:solidFill>
                <a:latin typeface="Calibri" pitchFamily="34" charset="0"/>
              </a:rPr>
              <a:t>Correlation matrix &amp; heatmap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84029" y="6397254"/>
            <a:ext cx="58350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</a:rPr>
              <a:t>Key EDA insight – </a:t>
            </a:r>
            <a:r>
              <a:rPr lang="en-US" sz="1400" dirty="0">
                <a:solidFill>
                  <a:srgbClr val="7A3E10"/>
                </a:solidFill>
                <a:latin typeface="Calibri" pitchFamily="34" charset="0"/>
              </a:rPr>
              <a:t>We get insights on how Exercise Frequency, Age, BMI, Glucose, </a:t>
            </a:r>
            <a:r>
              <a:rPr lang="en-US" sz="1400" dirty="0" err="1">
                <a:solidFill>
                  <a:srgbClr val="7A3E10"/>
                </a:solidFill>
                <a:latin typeface="Calibri" pitchFamily="34" charset="0"/>
              </a:rPr>
              <a:t>Smoking_status</a:t>
            </a:r>
            <a:r>
              <a:rPr lang="en-US" sz="1400" dirty="0">
                <a:solidFill>
                  <a:srgbClr val="7A3E10"/>
                </a:solidFill>
                <a:latin typeface="Calibri" pitchFamily="34" charset="0"/>
              </a:rPr>
              <a:t> affect the utilization cost of Organization </a:t>
            </a:r>
            <a:endParaRPr lang="en-US" sz="1400" i="1" dirty="0">
              <a:solidFill>
                <a:srgbClr val="A38A6D"/>
              </a:solidFill>
              <a:latin typeface="Calibri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DB3D99F-25AF-8182-5C65-C2398B412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162" y="2021640"/>
            <a:ext cx="3408527" cy="157276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ABEC30-674B-3956-2587-078F0C72C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678" y="2045510"/>
            <a:ext cx="4207559" cy="21828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D08140F-BC6A-1B49-CCFA-FD77D8916D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910" y="2000158"/>
            <a:ext cx="3152644" cy="16617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133ADDB-8549-B1D0-D6F0-FFE90C72B3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378" y="4212230"/>
            <a:ext cx="3120128" cy="156499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E55A2BD-B294-37B1-F26C-E5F2B78477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7454" y="4168520"/>
            <a:ext cx="3338651" cy="16701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60F13B-E842-B587-35AB-7C8D1C6A5F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06934" y="4815872"/>
            <a:ext cx="3361944" cy="1653622"/>
          </a:xfrm>
          <a:prstGeom prst="rect">
            <a:avLst/>
          </a:prstGeom>
        </p:spPr>
      </p:pic>
      <p:sp>
        <p:nvSpPr>
          <p:cNvPr id="28" name="Text 27">
            <a:extLst>
              <a:ext uri="{FF2B5EF4-FFF2-40B4-BE49-F238E27FC236}">
                <a16:creationId xmlns:a16="http://schemas.microsoft.com/office/drawing/2014/main" id="{2824A71E-CAF9-205A-A074-52B611C52113}"/>
              </a:ext>
            </a:extLst>
          </p:cNvPr>
          <p:cNvSpPr txBox="1"/>
          <p:nvPr/>
        </p:nvSpPr>
        <p:spPr>
          <a:xfrm>
            <a:off x="7606934" y="6409966"/>
            <a:ext cx="3187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</a:rPr>
              <a:t>Extremely rightly skewed</a:t>
            </a:r>
            <a:endParaRPr lang="en-US" sz="1400" b="1" i="1" dirty="0">
              <a:solidFill>
                <a:srgbClr val="A38A6D"/>
              </a:solidFill>
              <a:latin typeface="Calibri" pitchFamily="34" charset="0"/>
            </a:endParaRPr>
          </a:p>
          <a:p>
            <a:pPr marL="0" indent="0" algn="l">
              <a:spcAft>
                <a:spcPts val="0"/>
              </a:spcAft>
              <a:buNone/>
            </a:pPr>
            <a:r>
              <a:rPr lang="en-US" sz="1400" b="1" i="1" dirty="0">
                <a:solidFill>
                  <a:srgbClr val="A38A6D"/>
                </a:solidFill>
                <a:latin typeface="Calibri" pitchFamily="34" charset="0"/>
              </a:rPr>
              <a:t>90 % members may cost - $1000 - $20000</a:t>
            </a:r>
            <a:endParaRPr lang="en-US" sz="1400" b="1" dirty="0">
              <a:solidFill>
                <a:srgbClr val="7A3E1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360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" y="13360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362436" y="976037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451726"/>
              </p:ext>
            </p:extLst>
          </p:nvPr>
        </p:nvGraphicFramePr>
        <p:xfrm>
          <a:off x="123613" y="1508760"/>
          <a:ext cx="10927080" cy="40965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Composite score combining exercise behavior, diet quality and preventive screening participation</a:t>
                      </a:r>
                      <a:r>
                        <a:rPr lang="en-US" sz="1100" dirty="0">
                          <a:latin typeface="Calibri" charset="0"/>
                          <a:ea typeface="Calibri" charset="0"/>
                          <a:cs typeface="Calibri" charset="0"/>
                        </a:rPr>
                        <a:t>.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Supports identification of members likely to benefit from preventive wellness programs.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 Risk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Composite risk measure based on smoking behavior, obesity risk and physical inactivity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the Active Lifestyle 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Preventive Compliance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(Screening 100 + 10 x screenings done + 20 x risk assessment) /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non-compliant members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Disease Risk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of normalised BMI, glucose, HbA1c, systolic BP, cholesterol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composite clinical risk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Risk 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if glucose &gt;= 126 or HbA1c &gt;= 6.5; moderate if &gt;= 100 / 5.7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Identifies members exhibiting prediabetic or diabetic clinical indicators</a:t>
                      </a: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warning for the diabetes program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Risk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Measures healthcare-resource consumption during visits, admissions and medications.</a:t>
                      </a:r>
                      <a:endParaRPr lang="en-US" sz="1100" dirty="0">
                        <a:solidFill>
                          <a:srgbClr val="4A3520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High-cost populations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supporting features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visit, BP stage, family risk, age band, engagement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for cost and risk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123613" y="566928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features in total, all built from the five source tables and tied to a preventive action.</a:t>
            </a:r>
            <a:endParaRPr lang="en-US" sz="1250" dirty="0"/>
          </a:p>
        </p:txBody>
      </p:sp>
      <p:sp>
        <p:nvSpPr>
          <p:cNvPr id="12" name="Shape 0">
            <a:extLst>
              <a:ext uri="{FF2B5EF4-FFF2-40B4-BE49-F238E27FC236}">
                <a16:creationId xmlns:a16="http://schemas.microsoft.com/office/drawing/2014/main" id="{E326BE15-07B3-55E0-CDF8-0E4C332D3ABB}"/>
              </a:ext>
            </a:extLst>
          </p:cNvPr>
          <p:cNvSpPr/>
          <p:nvPr/>
        </p:nvSpPr>
        <p:spPr>
          <a:xfrm>
            <a:off x="120226" y="5881963"/>
            <a:ext cx="11734800" cy="8407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116CC7-10A0-65C2-C941-8AD1BBD3F67D}"/>
              </a:ext>
            </a:extLst>
          </p:cNvPr>
          <p:cNvSpPr txBox="1"/>
          <p:nvPr/>
        </p:nvSpPr>
        <p:spPr>
          <a:xfrm>
            <a:off x="137922" y="6018311"/>
            <a:ext cx="1141095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1400" b="1" i="0" dirty="0">
                <a:effectLst/>
                <a:latin typeface="+mn-lt"/>
              </a:rPr>
              <a:t>Cost per Visit  | Blood Pressure Stage | Age | Engagement Level | BMI | Glucose |Chronic Condition Count |Gender | </a:t>
            </a:r>
            <a:r>
              <a:rPr lang="en-US" sz="1400" b="1" i="0" dirty="0" err="1">
                <a:effectLst/>
                <a:latin typeface="+mn-lt"/>
              </a:rPr>
              <a:t>Smoking_status</a:t>
            </a:r>
            <a:r>
              <a:rPr lang="en-US" sz="1400" b="1" i="0" dirty="0">
                <a:effectLst/>
                <a:latin typeface="+mn-lt"/>
              </a:rPr>
              <a:t> </a:t>
            </a:r>
          </a:p>
          <a:p>
            <a:pPr lvl="0" fontAlgn="t">
              <a:lnSpc>
                <a:spcPct val="100000"/>
              </a:lnSpc>
            </a:pPr>
            <a:endParaRPr lang="en-US" sz="1400" b="1" dirty="0"/>
          </a:p>
          <a:p>
            <a:pPr lvl="0" fontAlgn="t">
              <a:lnSpc>
                <a:spcPct val="100000"/>
              </a:lnSpc>
            </a:pPr>
            <a:r>
              <a:rPr lang="en-US" sz="1400" b="1" dirty="0">
                <a:latin typeface="Segoe UI" panose="020B0502040204020203" pitchFamily="34" charset="0"/>
              </a:rPr>
              <a:t>* These are other selected features</a:t>
            </a:r>
            <a:endParaRPr lang="en-US" sz="1400" b="1" i="0" dirty="0">
              <a:effectLst/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PREDICT DISEASE RISK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965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QUESTIONS, ANSWERED IN SEQUENCE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3566160" cy="1600200"/>
          </a:xfrm>
          <a:prstGeom prst="roundRect">
            <a:avLst>
              <a:gd name="adj" fmla="val 3429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804672" y="2331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Will they develop it?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804672" y="2743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within 12 months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804672" y="3200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yes (1,036 of 9,982)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343400" y="2240280"/>
            <a:ext cx="356616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507992" y="2331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Which disease?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07992" y="2743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· Hypertension · Both · None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4507992" y="3200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436 · 575 · 25 · 8,946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46720" y="2240280"/>
            <a:ext cx="3566160" cy="1600200"/>
          </a:xfrm>
          <a:prstGeom prst="roundRect">
            <a:avLst>
              <a:gd name="adj" fmla="val 3429"/>
            </a:avLst>
          </a:prstGeom>
          <a:solidFill>
            <a:schemeClr val="accent6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8211312" y="23317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How urgent?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8211312" y="2743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 from predicted probability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8211312" y="3200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&lt;20% · Moderate 20-50% · High 50-75% · Very High 75%+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4023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BEHIND IT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0080" y="4297680"/>
            <a:ext cx="2651760" cy="978408"/>
          </a:xfrm>
          <a:prstGeom prst="roundRect">
            <a:avLst>
              <a:gd name="adj" fmla="val 560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49808" y="4407408"/>
            <a:ext cx="292608" cy="29260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749808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115568" y="4407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member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4800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34,553 records to 9,982 members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3401568" y="4297680"/>
            <a:ext cx="2651760" cy="978408"/>
          </a:xfrm>
          <a:prstGeom prst="roundRect">
            <a:avLst>
              <a:gd name="adj" fmla="val 560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511296" y="4407408"/>
            <a:ext cx="292608" cy="29260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3511296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3877056" y="4407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targets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3538728" y="4800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future-outcome flags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163056" y="4297680"/>
            <a:ext cx="2651760" cy="978408"/>
          </a:xfrm>
          <a:prstGeom prst="roundRect">
            <a:avLst>
              <a:gd name="adj" fmla="val 560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6272784" y="4407408"/>
            <a:ext cx="292608" cy="29260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6272784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6638544" y="4407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against leakage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6300216" y="4800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flags kept out of inputs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8924544" y="4297680"/>
            <a:ext cx="2651760" cy="978408"/>
          </a:xfrm>
          <a:prstGeom prst="roundRect">
            <a:avLst>
              <a:gd name="adj" fmla="val 560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/>
          <p:cNvSpPr/>
          <p:nvPr/>
        </p:nvSpPr>
        <p:spPr>
          <a:xfrm>
            <a:off x="9034272" y="4407408"/>
            <a:ext cx="292608" cy="29260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 txBox="1"/>
          <p:nvPr/>
        </p:nvSpPr>
        <p:spPr>
          <a:xfrm>
            <a:off x="9034272" y="4407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9400032" y="44074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300" dirty="0"/>
          </a:p>
        </p:txBody>
      </p:sp>
      <p:sp>
        <p:nvSpPr>
          <p:cNvPr id="42" name="Text 38"/>
          <p:cNvSpPr txBox="1"/>
          <p:nvPr/>
        </p:nvSpPr>
        <p:spPr>
          <a:xfrm>
            <a:off x="9061704" y="48006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model inputs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640080" y="5376672"/>
            <a:ext cx="2651760" cy="978408"/>
          </a:xfrm>
          <a:prstGeom prst="roundRect">
            <a:avLst>
              <a:gd name="adj" fmla="val 560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/>
          <p:cNvSpPr/>
          <p:nvPr/>
        </p:nvSpPr>
        <p:spPr>
          <a:xfrm>
            <a:off x="749808" y="5486400"/>
            <a:ext cx="292608" cy="29260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1"/>
          <p:cNvSpPr txBox="1"/>
          <p:nvPr/>
        </p:nvSpPr>
        <p:spPr>
          <a:xfrm>
            <a:off x="749808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2"/>
          <p:cNvSpPr txBox="1"/>
          <p:nvPr/>
        </p:nvSpPr>
        <p:spPr>
          <a:xfrm>
            <a:off x="1115568" y="5486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80 / 20</a:t>
            </a:r>
            <a:endParaRPr lang="en-US" sz="1300" dirty="0"/>
          </a:p>
        </p:txBody>
      </p:sp>
      <p:sp>
        <p:nvSpPr>
          <p:cNvPr id="47" name="Text 43"/>
          <p:cNvSpPr txBox="1"/>
          <p:nvPr/>
        </p:nvSpPr>
        <p:spPr>
          <a:xfrm>
            <a:off x="777240" y="58795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Stratified: 7,985 train, 1,997 test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3401568" y="5376672"/>
            <a:ext cx="2651760" cy="978408"/>
          </a:xfrm>
          <a:prstGeom prst="roundRect">
            <a:avLst>
              <a:gd name="adj" fmla="val 560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3511296" y="5486400"/>
            <a:ext cx="292608" cy="29260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 txBox="1"/>
          <p:nvPr/>
        </p:nvSpPr>
        <p:spPr>
          <a:xfrm>
            <a:off x="3511296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1" name="Text 47"/>
          <p:cNvSpPr txBox="1"/>
          <p:nvPr/>
        </p:nvSpPr>
        <p:spPr>
          <a:xfrm>
            <a:off x="3877056" y="5486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classes</a:t>
            </a:r>
            <a:endParaRPr lang="en-US" sz="1300" dirty="0"/>
          </a:p>
        </p:txBody>
      </p:sp>
      <p:sp>
        <p:nvSpPr>
          <p:cNvPr id="52" name="Text 48"/>
          <p:cNvSpPr txBox="1"/>
          <p:nvPr/>
        </p:nvSpPr>
        <p:spPr>
          <a:xfrm>
            <a:off x="3538728" y="58795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on training data only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>
            <a:off x="6163056" y="5376672"/>
            <a:ext cx="2651760" cy="978408"/>
          </a:xfrm>
          <a:prstGeom prst="roundRect">
            <a:avLst>
              <a:gd name="adj" fmla="val 560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0"/>
          <p:cNvSpPr/>
          <p:nvPr/>
        </p:nvSpPr>
        <p:spPr>
          <a:xfrm>
            <a:off x="6272784" y="5486400"/>
            <a:ext cx="292608" cy="29260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 txBox="1"/>
          <p:nvPr/>
        </p:nvSpPr>
        <p:spPr>
          <a:xfrm>
            <a:off x="6272784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6" name="Text 52"/>
          <p:cNvSpPr txBox="1"/>
          <p:nvPr/>
        </p:nvSpPr>
        <p:spPr>
          <a:xfrm>
            <a:off x="6638544" y="5486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tune</a:t>
            </a:r>
            <a:endParaRPr lang="en-US" sz="1300" dirty="0"/>
          </a:p>
        </p:txBody>
      </p:sp>
      <p:sp>
        <p:nvSpPr>
          <p:cNvPr id="57" name="Text 53"/>
          <p:cNvSpPr txBox="1"/>
          <p:nvPr/>
        </p:nvSpPr>
        <p:spPr>
          <a:xfrm>
            <a:off x="6300216" y="58795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models, hyperparameter search</a:t>
            </a:r>
            <a:endParaRPr lang="en-US" sz="1150" dirty="0"/>
          </a:p>
        </p:txBody>
      </p:sp>
      <p:sp>
        <p:nvSpPr>
          <p:cNvPr id="58" name="Shape 54"/>
          <p:cNvSpPr/>
          <p:nvPr/>
        </p:nvSpPr>
        <p:spPr>
          <a:xfrm>
            <a:off x="8924544" y="5376672"/>
            <a:ext cx="2651760" cy="978408"/>
          </a:xfrm>
          <a:prstGeom prst="roundRect">
            <a:avLst>
              <a:gd name="adj" fmla="val 560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9034272" y="5486400"/>
            <a:ext cx="292608" cy="292608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 txBox="1"/>
          <p:nvPr/>
        </p:nvSpPr>
        <p:spPr>
          <a:xfrm>
            <a:off x="9034272" y="5486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1" name="Text 57"/>
          <p:cNvSpPr txBox="1"/>
          <p:nvPr/>
        </p:nvSpPr>
        <p:spPr>
          <a:xfrm>
            <a:off x="9400032" y="54864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route</a:t>
            </a:r>
            <a:endParaRPr lang="en-US" sz="1300" dirty="0"/>
          </a:p>
        </p:txBody>
      </p:sp>
      <p:sp>
        <p:nvSpPr>
          <p:cNvPr id="62" name="Text 58"/>
          <p:cNvSpPr txBox="1"/>
          <p:nvPr/>
        </p:nvSpPr>
        <p:spPr>
          <a:xfrm>
            <a:off x="9061704" y="58795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tier, segment, campaign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 MODELS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965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MEMBER DEVELOP A CHRONIC DISEASE WITHIN 12 MONTHS?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786898"/>
              </p:ext>
            </p:extLst>
          </p:nvPr>
        </p:nvGraphicFramePr>
        <p:xfrm>
          <a:off x="640080" y="2240280"/>
          <a:ext cx="6766560" cy="25237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0.269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0.628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0080" y="48463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= best in column. Only about 10% of members develop disease, so catching them (recall) is the hard part.</a:t>
            </a:r>
            <a:endParaRPr lang="en-US" sz="1100" dirty="0"/>
          </a:p>
        </p:txBody>
      </p:sp>
      <p:sp>
        <p:nvSpPr>
          <p:cNvPr id="12" name="Text 7"/>
          <p:cNvSpPr txBox="1"/>
          <p:nvPr/>
        </p:nvSpPr>
        <p:spPr>
          <a:xfrm>
            <a:off x="8503920" y="1976579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COMPARISION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40080" y="534924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 txBox="1"/>
          <p:nvPr/>
        </p:nvSpPr>
        <p:spPr>
          <a:xfrm>
            <a:off x="804672" y="5413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804672" y="566928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</a:t>
            </a: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best overall (ROC-AUC 0.825, accuracy 0.78). It also catches the most at-risk members (recall 0.63).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343400" y="534924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 txBox="1"/>
          <p:nvPr/>
        </p:nvSpPr>
        <p:spPr>
          <a:xfrm>
            <a:off x="4507992" y="5413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4507992" y="566928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hold-out, SMOTE on training data only, and hyperparameter tuning for each model.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046720" y="534924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 txBox="1"/>
          <p:nvPr/>
        </p:nvSpPr>
        <p:spPr>
          <a:xfrm>
            <a:off x="8211312" y="5413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211312" y="566928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predicted probability to tier members: screen widely with the high-recall model, focus outreach with the high-precision one.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BE372CA-A3AC-519E-79E3-332B4FBFAD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565633"/>
            <a:ext cx="4597707" cy="19529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1AFB6-C972-8D50-63A9-15D9AAB2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6CCC16-C511-A244-06F4-ECB862915336}"/>
              </a:ext>
            </a:extLst>
          </p:cNvPr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0FFCB2-A8BC-2764-F844-595233AFC5DB}"/>
              </a:ext>
            </a:extLst>
          </p:cNvPr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>
            <a:extLst>
              <a:ext uri="{FF2B5EF4-FFF2-40B4-BE49-F238E27FC236}">
                <a16:creationId xmlns:a16="http://schemas.microsoft.com/office/drawing/2014/main" id="{4312D279-6CC8-DBD8-3276-662FD5B3C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>
            <a:extLst>
              <a:ext uri="{FF2B5EF4-FFF2-40B4-BE49-F238E27FC236}">
                <a16:creationId xmlns:a16="http://schemas.microsoft.com/office/drawing/2014/main" id="{34688720-1E1F-F5EF-2D21-58ED17A5E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CC1E5C5C-2E8F-8DB3-0DDB-18E5D43B9DE8}"/>
              </a:ext>
            </a:extLst>
          </p:cNvPr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7418316-CDAB-4233-E430-6AB1308E8984}"/>
              </a:ext>
            </a:extLst>
          </p:cNvPr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TYPE PREDICTION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33E927E-B148-B691-CEA3-FA9D52CF5050}"/>
              </a:ext>
            </a:extLst>
          </p:cNvPr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6A3EEA8-740F-30DA-A628-EC7F2313DB7E}"/>
              </a:ext>
            </a:extLst>
          </p:cNvPr>
          <p:cNvSpPr txBox="1"/>
          <p:nvPr/>
        </p:nvSpPr>
        <p:spPr>
          <a:xfrm>
            <a:off x="243265" y="1930229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MEMBER DEVELOP A CHRONIC DISEASE WITHIN 12 MONTHS?</a:t>
            </a:r>
            <a:endParaRPr lang="en-US" sz="11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D013C10B-C2E5-B622-773C-2E86D8C1B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9693994"/>
              </p:ext>
            </p:extLst>
          </p:nvPr>
        </p:nvGraphicFramePr>
        <p:xfrm>
          <a:off x="243265" y="2204549"/>
          <a:ext cx="6766560" cy="2103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0.9990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Xtreme Gradient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0.9828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0.9996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0.9798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0.9790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0.9993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>
            <a:extLst>
              <a:ext uri="{FF2B5EF4-FFF2-40B4-BE49-F238E27FC236}">
                <a16:creationId xmlns:a16="http://schemas.microsoft.com/office/drawing/2014/main" id="{6B0B1A5D-0EA5-196E-B0CB-747804B7F51A}"/>
              </a:ext>
            </a:extLst>
          </p:cNvPr>
          <p:cNvSpPr txBox="1"/>
          <p:nvPr/>
        </p:nvSpPr>
        <p:spPr>
          <a:xfrm>
            <a:off x="243264" y="4414220"/>
            <a:ext cx="2957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= best in column. Only about 10% of members develop disease, so catching them (recall) is the hard part.</a:t>
            </a:r>
            <a:endParaRPr lang="en-US" sz="11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A738AEDE-2B56-FA7D-B4F3-43DA4450513E}"/>
              </a:ext>
            </a:extLst>
          </p:cNvPr>
          <p:cNvSpPr txBox="1"/>
          <p:nvPr/>
        </p:nvSpPr>
        <p:spPr>
          <a:xfrm>
            <a:off x="8503920" y="1976579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COMPARISION</a:t>
            </a:r>
            <a:endParaRPr lang="en-US" sz="11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8364BC9A-F46E-2E5E-52FA-BED75BE23B11}"/>
              </a:ext>
            </a:extLst>
          </p:cNvPr>
          <p:cNvSpPr/>
          <p:nvPr/>
        </p:nvSpPr>
        <p:spPr>
          <a:xfrm>
            <a:off x="3362576" y="4425601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708133E-ADB7-38B2-1C79-4D92EA402F05}"/>
              </a:ext>
            </a:extLst>
          </p:cNvPr>
          <p:cNvSpPr txBox="1"/>
          <p:nvPr/>
        </p:nvSpPr>
        <p:spPr>
          <a:xfrm>
            <a:off x="3527168" y="4489609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1ADC7F0A-6B36-B828-FF72-8BC91DC92FFC}"/>
              </a:ext>
            </a:extLst>
          </p:cNvPr>
          <p:cNvSpPr txBox="1"/>
          <p:nvPr/>
        </p:nvSpPr>
        <p:spPr>
          <a:xfrm>
            <a:off x="3527168" y="4745641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05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best overall –</a:t>
            </a:r>
          </a:p>
          <a:p>
            <a:pPr marL="0" indent="0">
              <a:buNone/>
            </a:pPr>
            <a:r>
              <a:rPr lang="en-US" sz="105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: 0.982 | Accuracy 0.983</a:t>
            </a:r>
          </a:p>
          <a:p>
            <a:pPr marL="0" indent="0">
              <a:buNone/>
            </a:pPr>
            <a:endParaRPr lang="en-US" sz="1050" b="1" dirty="0">
              <a:solidFill>
                <a:srgbClr val="4A35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also catches the most at-risk members </a:t>
            </a:r>
            <a:r>
              <a:rPr lang="en-US" sz="105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: 0.983</a:t>
            </a: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5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F1D0A32-142D-F364-157B-951E2AB2437B}"/>
              </a:ext>
            </a:extLst>
          </p:cNvPr>
          <p:cNvSpPr/>
          <p:nvPr/>
        </p:nvSpPr>
        <p:spPr>
          <a:xfrm>
            <a:off x="3362576" y="5586889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CA5BC1F2-ABEF-C857-0791-09ADEE03FF0A}"/>
              </a:ext>
            </a:extLst>
          </p:cNvPr>
          <p:cNvSpPr txBox="1"/>
          <p:nvPr/>
        </p:nvSpPr>
        <p:spPr>
          <a:xfrm>
            <a:off x="3527168" y="5650897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5597EA25-AB57-D7AE-C0F7-A734A1B7B9F7}"/>
              </a:ext>
            </a:extLst>
          </p:cNvPr>
          <p:cNvSpPr txBox="1"/>
          <p:nvPr/>
        </p:nvSpPr>
        <p:spPr>
          <a:xfrm>
            <a:off x="3527168" y="5906929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hold-out, SMOTE on training data only, and hyperparameter tuning for each model.</a:t>
            </a:r>
            <a:endParaRPr lang="en-US" sz="105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E055C4A8-8663-5C44-09FF-EA0A2CBF2E95}"/>
              </a:ext>
            </a:extLst>
          </p:cNvPr>
          <p:cNvSpPr/>
          <p:nvPr/>
        </p:nvSpPr>
        <p:spPr>
          <a:xfrm>
            <a:off x="7090913" y="5102353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7D37C61-5778-425A-1F63-7F4BBAB0193C}"/>
              </a:ext>
            </a:extLst>
          </p:cNvPr>
          <p:cNvSpPr txBox="1"/>
          <p:nvPr/>
        </p:nvSpPr>
        <p:spPr>
          <a:xfrm>
            <a:off x="7255505" y="522209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</a:t>
            </a:r>
            <a:endParaRPr lang="en-US" sz="110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310C4B88-CE57-A263-D8F2-29CBF67FCAE6}"/>
              </a:ext>
            </a:extLst>
          </p:cNvPr>
          <p:cNvSpPr txBox="1"/>
          <p:nvPr/>
        </p:nvSpPr>
        <p:spPr>
          <a:xfrm>
            <a:off x="7255505" y="550642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predicted probability to tier members: screen widely with the high-recall model, focus outreach with the high-precision one.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4A8F255-E58F-842F-DDA9-8EF02B0194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755" y="2177306"/>
            <a:ext cx="4893239" cy="2989054"/>
          </a:xfrm>
          <a:prstGeom prst="rect">
            <a:avLst/>
          </a:prstGeom>
        </p:spPr>
      </p:pic>
      <p:graphicFrame>
        <p:nvGraphicFramePr>
          <p:cNvPr id="27" name="Table 0">
            <a:extLst>
              <a:ext uri="{FF2B5EF4-FFF2-40B4-BE49-F238E27FC236}">
                <a16:creationId xmlns:a16="http://schemas.microsoft.com/office/drawing/2014/main" id="{CAD781CB-45F8-25FE-D388-2064B96D7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737845"/>
              </p:ext>
            </p:extLst>
          </p:nvPr>
        </p:nvGraphicFramePr>
        <p:xfrm>
          <a:off x="225753" y="5297708"/>
          <a:ext cx="2799962" cy="1366936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008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Disease Type</a:t>
                      </a:r>
                      <a:endParaRPr lang="en-US" sz="12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Count</a:t>
                      </a:r>
                      <a:endParaRPr lang="en-US" sz="12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Percentage</a:t>
                      </a:r>
                      <a:endParaRPr lang="en-US" sz="1200" dirty="0"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</a:rPr>
                        <a:t>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</a:rPr>
                        <a:t>20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</a:rPr>
                        <a:t>0.25</a:t>
                      </a:r>
                      <a:r>
                        <a:rPr lang="en-US" sz="1200" b="1" dirty="0">
                          <a:solidFill>
                            <a:srgbClr val="4A3520"/>
                          </a:solidFill>
                        </a:rPr>
                        <a:t>%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</a:rPr>
                        <a:t>Diabetes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</a:rPr>
                        <a:t>349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</a:rPr>
                        <a:t>4.37 %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</a:rPr>
                        <a:t>Hypertension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3520"/>
                          </a:solidFill>
                        </a:rPr>
                        <a:t>460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</a:rPr>
                        <a:t>5.76 %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9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7A3E10"/>
                          </a:solidFill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</a:rPr>
                        <a:t>7156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rgbClr val="4A3520"/>
                          </a:solidFill>
                        </a:rPr>
                        <a:t>89.62 %</a:t>
                      </a:r>
                      <a:endParaRPr lang="en-US" sz="12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F049A25E-6F7F-3355-30C6-5D4088FFA358}"/>
              </a:ext>
            </a:extLst>
          </p:cNvPr>
          <p:cNvSpPr txBox="1"/>
          <p:nvPr/>
        </p:nvSpPr>
        <p:spPr>
          <a:xfrm>
            <a:off x="7080935" y="6239611"/>
            <a:ext cx="488531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1100" b="0" i="0" dirty="0">
                <a:effectLst/>
                <a:latin typeface="+mn-lt"/>
              </a:rPr>
              <a:t>Results reflect the strong predictive signal present within clinical, wellness, and utilization indicators. External validation is recommended prior to real-world deployment.</a:t>
            </a:r>
            <a:endParaRPr lang="en-US" sz="1100" b="0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13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SEGMENTATION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7040880" cy="356616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characteristics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Low-Risk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4,091 (41%)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Youngest (39), lowest cost ($2.3K), 0.2 conditions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wellness 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3,940 (39%)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58, BMI 30, elevated BP and lifestyle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 and diabetes-prevention programs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Chronic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1,404 (14%)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66, glucose 126, HbA1c 6.3, BMI 33, 4.7 medications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management and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7A3E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High-Cost Utilization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547 (5.5%)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$45K average cost, 1 admission per 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4A3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 coordination and case management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40080" y="5623560"/>
            <a:ext cx="7040880" cy="777240"/>
          </a:xfrm>
          <a:prstGeom prst="roundRect">
            <a:avLst>
              <a:gd name="adj" fmla="val 7059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822960" y="5687568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of members drive about 42% of spend. </a:t>
            </a: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39% in Emerging Risk is the largest chance to prevent progression. K-Means (silhouette 0.155) edged hierarchical (0.151), so we use K-Means.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09560" y="2011680"/>
            <a:ext cx="3657600" cy="4389120"/>
          </a:xfrm>
          <a:prstGeom prst="roundRect">
            <a:avLst>
              <a:gd name="adj" fmla="val 15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8092440" y="21031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ON A PCA MAP</a:t>
            </a:r>
            <a:endParaRPr lang="en-US" sz="1100" dirty="0"/>
          </a:p>
        </p:txBody>
      </p:sp>
      <p:pic>
        <p:nvPicPr>
          <p:cNvPr id="14" name="Image 2" descr="/home/claude/assets/cell262_0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046720" y="2377440"/>
            <a:ext cx="3383280" cy="2651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92440" y="5120640"/>
            <a:ext cx="3291840" cy="118872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     High-Risk Chronic </a:t>
            </a:r>
          </a:p>
          <a:p>
            <a:pPr marL="0" indent="0">
              <a:buNone/>
            </a:pPr>
            <a:r>
              <a:rPr lang="en-US" sz="115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Healthy 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  Emerging </a:t>
            </a:r>
          </a:p>
          <a:p>
            <a:pPr marL="0" indent="0">
              <a:buNone/>
            </a:pPr>
            <a:r>
              <a:rPr lang="en-US" sz="115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       High-Cost</a:t>
            </a:r>
          </a:p>
          <a:p>
            <a:pPr marL="0" indent="0">
              <a:buNone/>
            </a:pPr>
            <a:endParaRPr lang="en-US" sz="1150" dirty="0">
              <a:solidFill>
                <a:srgbClr val="4A35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50" b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rises left to right.</a:t>
            </a:r>
            <a:endParaRPr lang="en-US" sz="115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182"/>
            <a:ext cx="12188952" cy="1250789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209423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15184" y="292301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574445" y="609986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INSIGHTS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465925" y="91103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007792" y="1458161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OF 996 MEMBER REVIEWS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669499631"/>
              </p:ext>
            </p:extLst>
          </p:nvPr>
        </p:nvGraphicFramePr>
        <p:xfrm>
          <a:off x="577969" y="1686761"/>
          <a:ext cx="3881888" cy="2365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389468" y="4052517"/>
            <a:ext cx="41825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is aligned to ratings (4-5 positive, 3 neutral, 1-2 negative). A CNN classifier reaches 85% accuracy; TF-IDF with logistic regression, 82%.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258232" y="3489062"/>
            <a:ext cx="3139152" cy="1426293"/>
          </a:xfrm>
          <a:prstGeom prst="roundRect">
            <a:avLst>
              <a:gd name="adj" fmla="val 24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 txBox="1"/>
          <p:nvPr/>
        </p:nvSpPr>
        <p:spPr>
          <a:xfrm>
            <a:off x="5397316" y="3570921"/>
            <a:ext cx="2817188" cy="180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MEMBERS PRAISE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397316" y="3830612"/>
            <a:ext cx="2817188" cy="137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and clinical care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quality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Helpful, supportive staff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care experience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262619" y="5067696"/>
            <a:ext cx="3149861" cy="1643160"/>
          </a:xfrm>
          <a:prstGeom prst="roundRect">
            <a:avLst>
              <a:gd name="adj" fmla="val 2791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 txBox="1"/>
          <p:nvPr/>
        </p:nvSpPr>
        <p:spPr>
          <a:xfrm>
            <a:off x="5412412" y="5177424"/>
            <a:ext cx="2817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FRUSTRATES THEM (COMMON CONCERNS)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5408013" y="5643768"/>
            <a:ext cx="28171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times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and cost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562273" y="3291840"/>
            <a:ext cx="3429000" cy="3418900"/>
          </a:xfrm>
          <a:prstGeom prst="roundRect">
            <a:avLst>
              <a:gd name="adj" fmla="val 160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8722293" y="3359557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TOPICS FOUND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648844" y="36385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8813733" y="3651303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Administration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648844" y="40957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8813733" y="4108503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&amp; Doctors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648844" y="45529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8813733" y="4565703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Services &amp; Wait Time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648844" y="50101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 txBox="1"/>
          <p:nvPr/>
        </p:nvSpPr>
        <p:spPr>
          <a:xfrm>
            <a:off x="8813733" y="5022903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Care &amp; Surgery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8648844" y="5467388"/>
            <a:ext cx="3063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8813733" y="5480103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 &amp; Access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8722293" y="6028743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clinical quality is the strength. The biggest chances to improve experience are operational: scheduling, waiting and billing.</a:t>
            </a:r>
            <a:endParaRPr lang="en-US" sz="12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D21B911-FA75-F294-C08B-C2C26D58F8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722" y="1400089"/>
            <a:ext cx="2313586" cy="176725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965FAF5-0F54-144C-A2F9-AECECCEBE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3353" y="1340250"/>
            <a:ext cx="2057920" cy="1888444"/>
          </a:xfrm>
          <a:prstGeom prst="rect">
            <a:avLst/>
          </a:prstGeom>
        </p:spPr>
      </p:pic>
      <p:sp>
        <p:nvSpPr>
          <p:cNvPr id="39" name="Text 5">
            <a:extLst>
              <a:ext uri="{FF2B5EF4-FFF2-40B4-BE49-F238E27FC236}">
                <a16:creationId xmlns:a16="http://schemas.microsoft.com/office/drawing/2014/main" id="{2CA1ABF6-2379-AB12-01E3-E7C0F25942E0}"/>
              </a:ext>
            </a:extLst>
          </p:cNvPr>
          <p:cNvSpPr txBox="1"/>
          <p:nvPr/>
        </p:nvSpPr>
        <p:spPr>
          <a:xfrm rot="16200000">
            <a:off x="6081139" y="2116023"/>
            <a:ext cx="656758" cy="19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- IDF</a:t>
            </a:r>
            <a:endParaRPr lang="en-US" sz="11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A94B6E2E-95F9-2C99-E5FC-83484820489B}"/>
              </a:ext>
            </a:extLst>
          </p:cNvPr>
          <p:cNvSpPr txBox="1"/>
          <p:nvPr/>
        </p:nvSpPr>
        <p:spPr>
          <a:xfrm rot="16200000">
            <a:off x="9293924" y="2004627"/>
            <a:ext cx="656758" cy="193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2D548F5-0AAF-DF15-C762-E73FF51ABC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091" y="4739250"/>
            <a:ext cx="4064766" cy="21158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 ASSISTANT (RAG)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1965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PREVENTIVE HEALTH ASSISTANT WORKS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49808" y="237744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749808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22860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651760" y="22768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documents (31 pages): CDC, WHO and our playbooks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9260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49808" y="306324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749808" y="3063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188720" y="29718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2651760" y="29626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chunks, 1,000 characters each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40080" y="36118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49808" y="374904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749808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1188720" y="36576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2651760" y="36484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 sentence embeddings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40080" y="42976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49808" y="443484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749808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1188720" y="43434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2651760" y="43342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index, saved locally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" y="49834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749808" y="512064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749808" y="5120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188720" y="50292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2651760" y="50200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7 passages (MMR)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640080" y="5669280"/>
            <a:ext cx="4846320" cy="603504"/>
          </a:xfrm>
          <a:prstGeom prst="roundRect">
            <a:avLst>
              <a:gd name="adj" fmla="val 9091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2"/>
          <p:cNvSpPr/>
          <p:nvPr/>
        </p:nvSpPr>
        <p:spPr>
          <a:xfrm>
            <a:off x="749808" y="5806440"/>
            <a:ext cx="329184" cy="329184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3"/>
          <p:cNvSpPr txBox="1"/>
          <p:nvPr/>
        </p:nvSpPr>
        <p:spPr>
          <a:xfrm>
            <a:off x="749808" y="5806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1188720" y="571500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39" name="Text 35"/>
          <p:cNvSpPr txBox="1"/>
          <p:nvPr/>
        </p:nvSpPr>
        <p:spPr>
          <a:xfrm>
            <a:off x="2651760" y="57058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3, grounded in retrieved text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640080" y="6355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member's ML risk tier, probability and segment go into every prompt, so advice is personal and grounded.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5760720" y="2011680"/>
            <a:ext cx="5806440" cy="1874520"/>
          </a:xfrm>
          <a:prstGeom prst="roundRect">
            <a:avLst>
              <a:gd name="adj" fmla="val 292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 txBox="1"/>
          <p:nvPr/>
        </p:nvSpPr>
        <p:spPr>
          <a:xfrm>
            <a:off x="594360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5943600" y="237744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Member: age 57, BMI 34.5, glucose 182, current smoker, hypertension. Segment: High-Risk Chronic. Risk tier: Very High (probability 0.84).</a:t>
            </a:r>
            <a:endParaRPr lang="en-US" sz="1250" dirty="0"/>
          </a:p>
        </p:txBody>
      </p:sp>
      <p:sp>
        <p:nvSpPr>
          <p:cNvPr id="44" name="Text 40"/>
          <p:cNvSpPr txBox="1"/>
          <p:nvPr/>
        </p:nvSpPr>
        <p:spPr>
          <a:xfrm>
            <a:off x="5943600" y="3200400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diabetes prevention, smoking cessation, weight management, screenings, care actions.</a:t>
            </a:r>
            <a:endParaRPr lang="en-US" sz="1200" dirty="0"/>
          </a:p>
        </p:txBody>
      </p:sp>
      <p:sp>
        <p:nvSpPr>
          <p:cNvPr id="45" name="Shape 41"/>
          <p:cNvSpPr/>
          <p:nvPr/>
        </p:nvSpPr>
        <p:spPr>
          <a:xfrm>
            <a:off x="5760720" y="4023360"/>
            <a:ext cx="5806440" cy="2377440"/>
          </a:xfrm>
          <a:prstGeom prst="roundRect">
            <a:avLst>
              <a:gd name="adj" fmla="val 2308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 txBox="1"/>
          <p:nvPr/>
        </p:nvSpPr>
        <p:spPr>
          <a:xfrm>
            <a:off x="5943600" y="4114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AI RESPONSE</a:t>
            </a:r>
            <a:endParaRPr lang="en-US" sz="1100" dirty="0"/>
          </a:p>
        </p:txBody>
      </p:sp>
      <p:sp>
        <p:nvSpPr>
          <p:cNvPr id="47" name="Text 43"/>
          <p:cNvSpPr txBox="1"/>
          <p:nvPr/>
        </p:nvSpPr>
        <p:spPr>
          <a:xfrm>
            <a:off x="5943600" y="4407408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summary: </a:t>
            </a: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risk of chronic disease; age, glucose, hypertension and obesity drive it.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Programs: </a:t>
            </a: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Prevention, Active Lifestyle, Care Management.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actions: </a:t>
            </a: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review, care coordination, close monitoring.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knowledge base lacks an answer, it says so rather than guessing.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E3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3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803904" y="270132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DASHBOARD </a:t>
            </a:r>
            <a:endParaRPr lang="en-US" sz="44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A631FA-8F81-1110-0E35-6EB7DD18C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55" y="1257020"/>
            <a:ext cx="3961130" cy="21207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0200B4-0625-6D33-DEAF-C9E029066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9800" y="1257021"/>
            <a:ext cx="3964277" cy="212077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A1B25B-ED92-9F99-239F-9C93331529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4275" y="1257019"/>
            <a:ext cx="3811808" cy="21207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AFD78A5-3E04-8A1D-3A7A-A186CC832F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554" y="3705646"/>
            <a:ext cx="3961131" cy="22593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DD7C44-A9BD-4009-7054-1C15759331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9800" y="3657600"/>
            <a:ext cx="3964277" cy="23074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08511F0-F0FC-605F-D59C-345B4B7136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4275" y="3705646"/>
            <a:ext cx="3780011" cy="225939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53896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89888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DEMO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430000" y="1059289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62309" y="1625550"/>
            <a:ext cx="3843931" cy="2443530"/>
          </a:xfrm>
          <a:prstGeom prst="roundRect">
            <a:avLst>
              <a:gd name="adj" fmla="val 266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548640" y="174398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152489" y="1699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Overview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population are we managing?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to be added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43400" y="1645718"/>
            <a:ext cx="3566160" cy="2423362"/>
          </a:xfrm>
          <a:prstGeom prst="roundRect">
            <a:avLst>
              <a:gd name="adj" fmla="val 266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 txBox="1"/>
          <p:nvPr/>
        </p:nvSpPr>
        <p:spPr>
          <a:xfrm>
            <a:off x="4444329" y="1784409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029200" y="173603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Distribution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at risk?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52628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to be added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46720" y="1625550"/>
            <a:ext cx="3566160" cy="2443530"/>
          </a:xfrm>
          <a:prstGeom prst="roundRect">
            <a:avLst>
              <a:gd name="adj" fmla="val 266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8193369" y="180461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8814471" y="172717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Prediction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0" y="2926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they at risk?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822960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to be added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62309" y="4206239"/>
            <a:ext cx="3843931" cy="2548243"/>
          </a:xfrm>
          <a:prstGeom prst="roundRect">
            <a:avLst>
              <a:gd name="adj" fmla="val 266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82296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426809" y="426463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Segments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82296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groups need different interventions?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822960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to be added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343400" y="4206240"/>
            <a:ext cx="3566160" cy="2548242"/>
          </a:xfrm>
          <a:prstGeom prst="roundRect">
            <a:avLst>
              <a:gd name="adj" fmla="val 266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452628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5164635" y="425328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Insights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452628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members telling us?</a:t>
            </a:r>
            <a:endParaRPr lang="en-US" sz="1300" dirty="0"/>
          </a:p>
        </p:txBody>
      </p:sp>
      <p:sp>
        <p:nvSpPr>
          <p:cNvPr id="33" name="Text 29"/>
          <p:cNvSpPr txBox="1"/>
          <p:nvPr/>
        </p:nvSpPr>
        <p:spPr>
          <a:xfrm>
            <a:off x="4526280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to be added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046720" y="4206240"/>
            <a:ext cx="3566160" cy="2548242"/>
          </a:xfrm>
          <a:prstGeom prst="roundRect">
            <a:avLst>
              <a:gd name="adj" fmla="val 2667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822960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8850703" y="426709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80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20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resources be invested?</a:t>
            </a:r>
            <a:endParaRPr lang="en-US" sz="1300" dirty="0"/>
          </a:p>
        </p:txBody>
      </p:sp>
      <p:sp>
        <p:nvSpPr>
          <p:cNvPr id="38" name="Text 34"/>
          <p:cNvSpPr txBox="1"/>
          <p:nvPr/>
        </p:nvSpPr>
        <p:spPr>
          <a:xfrm>
            <a:off x="8229600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 to be added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640080" y="64008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5622B1C-2548-DB5E-F101-5EC617FF4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005" y="1991311"/>
            <a:ext cx="3462356" cy="205122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948D8BD-A25A-D762-81DF-660F3A2FC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3794" y="2018231"/>
            <a:ext cx="3285371" cy="1937526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C400DB7-5F9F-69B7-BFC8-9CA2FCD031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024202"/>
            <a:ext cx="3266148" cy="191921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3ABE8B5-B6B8-23E7-2266-BDF1FAE145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688790"/>
            <a:ext cx="3444240" cy="1981685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28C74587-6661-09AD-9CFF-BB8673FCD3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6280" y="4663440"/>
            <a:ext cx="3242669" cy="199908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94ABE8E-7CBA-03DF-0E58-24A3EFF086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3720" y="4724688"/>
            <a:ext cx="3200399" cy="18817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assets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5" name="Image 1" descr="/home/claude/assets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BUSINESS IMPACT</a:t>
            </a:r>
            <a:endParaRPr lang="en-US" sz="32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201168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FBE3C2"/>
          </a:solidFill>
          <a:ln w="12700">
            <a:solidFill>
              <a:srgbClr val="FBE3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868680" y="2084832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interventions should Kaiser Permanente implement today to reduce future chronic disease burden while improving member wellness and controlling healthcare costs?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777240" y="3246120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7772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23444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Emerging Risk first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3749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3,940 members (39%). Lifestyle and diabetes-prevention programs before progression.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34340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80560" y="3246120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44805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49377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care for high cost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4526280" y="3749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547 members drive ~42% of spend. Case management and care coordination.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046720" y="310896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183880" y="3246120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81838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6410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chronic disease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8229600" y="374904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1,404 High-Risk Chronic members: monitoring, medication review, disease management.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0080" y="466344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777240" y="4800600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123444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member experience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822960" y="5303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appointment scheduling, shorter waits, clearer billing.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343400" y="466344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4480560" y="4800600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448056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493776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program participation</a:t>
            </a:r>
            <a:endParaRPr lang="en-US" sz="1400" dirty="0"/>
          </a:p>
        </p:txBody>
      </p:sp>
      <p:sp>
        <p:nvSpPr>
          <p:cNvPr id="35" name="Text 31"/>
          <p:cNvSpPr txBox="1"/>
          <p:nvPr/>
        </p:nvSpPr>
        <p:spPr>
          <a:xfrm>
            <a:off x="4526280" y="5303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right campaign per member: diabetes, active lifestyle, healthy aging, hypertension.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8046720" y="4663440"/>
            <a:ext cx="3566160" cy="1463040"/>
          </a:xfrm>
          <a:prstGeom prst="roundRect">
            <a:avLst>
              <a:gd name="adj" fmla="val 3750"/>
            </a:avLst>
          </a:prstGeom>
          <a:solidFill>
            <a:srgbClr val="FFF6EA"/>
          </a:solidFill>
          <a:ln w="12700">
            <a:solidFill>
              <a:srgbClr val="FF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3"/>
          <p:cNvSpPr/>
          <p:nvPr/>
        </p:nvSpPr>
        <p:spPr>
          <a:xfrm>
            <a:off x="8183880" y="4800600"/>
            <a:ext cx="365760" cy="365760"/>
          </a:xfrm>
          <a:prstGeom prst="ellipse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 txBox="1"/>
          <p:nvPr/>
        </p:nvSpPr>
        <p:spPr>
          <a:xfrm>
            <a:off x="818388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5"/>
          <p:cNvSpPr txBox="1"/>
          <p:nvPr/>
        </p:nvSpPr>
        <p:spPr>
          <a:xfrm>
            <a:off x="8641080" y="4800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AI assistant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8229600" y="530352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care managers and members grounded, personalised preventive guidance.</a:t>
            </a:r>
            <a:endParaRPr lang="en-US" sz="1200" dirty="0"/>
          </a:p>
        </p:txBody>
      </p:sp>
      <p:sp>
        <p:nvSpPr>
          <p:cNvPr id="41" name="Text 37"/>
          <p:cNvSpPr txBox="1"/>
          <p:nvPr/>
        </p:nvSpPr>
        <p:spPr>
          <a:xfrm>
            <a:off x="640080" y="6263640"/>
            <a:ext cx="10927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 </a:t>
            </a:r>
            <a:r>
              <a:rPr lang="en-US" sz="1250" dirty="0">
                <a:solidFill>
                  <a:srgbClr val="4A3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 members account for roughly $25M of $59M; every 10% reduction there is about $2.5M (illustrative, from segment averages).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E3C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7127B5-7400-D260-2D51-D2511176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1.png">
            <a:extLst>
              <a:ext uri="{FF2B5EF4-FFF2-40B4-BE49-F238E27FC236}">
                <a16:creationId xmlns:a16="http://schemas.microsoft.com/office/drawing/2014/main" id="{6DC4F6F2-F862-A9B4-73D6-55EF046B0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"/>
            <a:ext cx="1554480" cy="186538"/>
          </a:xfrm>
          <a:prstGeom prst="rect">
            <a:avLst/>
          </a:prstGeom>
        </p:spPr>
      </p:pic>
      <p:pic>
        <p:nvPicPr>
          <p:cNvPr id="3" name="Image 1" descr="/home/claude/assets/image2.png">
            <a:extLst>
              <a:ext uri="{FF2B5EF4-FFF2-40B4-BE49-F238E27FC236}">
                <a16:creationId xmlns:a16="http://schemas.microsoft.com/office/drawing/2014/main" id="{F83EA690-25AA-536E-F824-52B6A05F7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4" y="347472"/>
            <a:ext cx="429768" cy="384048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DE895098-7313-F3F0-FE35-022CCCCD6F60}"/>
              </a:ext>
            </a:extLst>
          </p:cNvPr>
          <p:cNvSpPr txBox="1"/>
          <p:nvPr/>
        </p:nvSpPr>
        <p:spPr>
          <a:xfrm>
            <a:off x="822960" y="2743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:)</a:t>
            </a:r>
            <a:endParaRPr lang="en-US" sz="4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15A359E-88E3-210E-E3A6-D7C4A6F5E3D3}"/>
              </a:ext>
            </a:extLst>
          </p:cNvPr>
          <p:cNvSpPr txBox="1"/>
          <p:nvPr/>
        </p:nvSpPr>
        <p:spPr>
          <a:xfrm>
            <a:off x="82296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FF9FA8F-A0CD-5E16-9BD5-7459A467F0AF}"/>
              </a:ext>
            </a:extLst>
          </p:cNvPr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25270"/>
      </p:ext>
    </p:extLst>
  </p:cSld>
  <p:clrMapOvr>
    <a:masterClrMapping/>
  </p:clrMapOvr>
</p:sld>
</file>

<file path=ppt/theme/theme1.xml><?xml version="1.0" encoding="utf-8"?>
<a:theme xmlns:a="http://schemas.openxmlformats.org/drawingml/2006/main" name="Capstone Warm">
  <a:themeElements>
    <a:clrScheme name="Capstone Warm">
      <a:dk1>
        <a:srgbClr val="4A3520"/>
      </a:dk1>
      <a:lt1>
        <a:srgbClr val="FFFFFF"/>
      </a:lt1>
      <a:dk2>
        <a:srgbClr val="7A3E10"/>
      </a:dk2>
      <a:lt2>
        <a:srgbClr val="FBE3C2"/>
      </a:lt2>
      <a:accent1>
        <a:srgbClr val="E8871E"/>
      </a:accent1>
      <a:accent2>
        <a:srgbClr val="7A3E10"/>
      </a:accent2>
      <a:accent3>
        <a:srgbClr val="F5B461"/>
      </a:accent3>
      <a:accent4>
        <a:srgbClr val="9C7A4E"/>
      </a:accent4>
      <a:accent5>
        <a:srgbClr val="2F6F8F"/>
      </a:accent5>
      <a:accent6>
        <a:srgbClr val="FFF6EA"/>
      </a:accent6>
      <a:hlink>
        <a:srgbClr val="E8871E"/>
      </a:hlink>
      <a:folHlink>
        <a:srgbClr val="9C7A4E"/>
      </a:folHlink>
    </a:clrScheme>
    <a:fontScheme name="Capstone War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2532</Words>
  <Application>Microsoft Office PowerPoint</Application>
  <PresentationFormat>Widescreen</PresentationFormat>
  <Paragraphs>490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Segoe UI</vt:lpstr>
      <vt:lpstr>Capstone Warm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Janhavi M Bagret</cp:lastModifiedBy>
  <cp:revision>18</cp:revision>
  <dcterms:created xsi:type="dcterms:W3CDTF">2026-10-27T11:19:23Z</dcterms:created>
  <dcterms:modified xsi:type="dcterms:W3CDTF">2026-10-28T10:53:45Z</dcterms:modified>
</cp:coreProperties>
</file>